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8A94A6"/>
                </a:solidFill>
                <a:latin typeface="Arial"/>
              </a:rPr>
              <a:t>QREVO 2 PRO   ·   TIKTOK ĐẠI LÝ   ·   08/06 – 05/07/2026  (4 TUẦN)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03504"/>
            <a:ext cx="11274552" cy="786384"/>
          </a:xfrm>
          <a:prstGeom prst="roundRect">
            <a:avLst>
              <a:gd name="adj" fmla="val 5000"/>
            </a:avLst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03504"/>
            <a:ext cx="106070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Chương trình kích hoạt 23 đại lý &amp; 93 video chỉ trong 4 tuần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11274552" cy="566928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1E293B"/>
                </a:solidFill>
                <a:latin typeface="Arial"/>
              </a:rPr>
              <a:t>Nhưng độ phủ đang dồn vào số ít: Top 3 đại lý làm 37% video — riêng </a:t>
            </a:r>
            <a:r>
              <a:rPr sz="1200" b="1">
                <a:solidFill>
                  <a:srgbClr val="1E293B"/>
                </a:solidFill>
                <a:latin typeface="Arial"/>
              </a:rPr>
              <a:t>mivietnam_chuyengiarobot chiếm 34% tổng view</a:t>
            </a:r>
            <a:r>
              <a:rPr sz="1200" b="0">
                <a:solidFill>
                  <a:srgbClr val="1E293B"/>
                </a:solidFill>
                <a:latin typeface="Arial"/>
              </a:rPr>
              <a:t> (giữ cả 5 video hot nhất).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12848"/>
            <a:ext cx="5486400" cy="3017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212848"/>
            <a:ext cx="5486400" cy="420624"/>
          </a:xfrm>
          <a:prstGeom prst="roundRect">
            <a:avLst>
              <a:gd name="adj" fmla="val 4500"/>
            </a:avLst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1284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🏆  Top 6 đại lý — theo số video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98064"/>
            <a:ext cx="17830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Arial"/>
              </a:rPr>
              <a:t>kimanh_1202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2834640"/>
            <a:ext cx="2606040" cy="173736"/>
          </a:xfrm>
          <a:prstGeom prst="roundRect">
            <a:avLst>
              <a:gd name="adj" fmla="val 50000"/>
            </a:avLst>
          </a:prstGeom>
          <a:solidFill>
            <a:srgbClr val="E6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14600" y="2834640"/>
            <a:ext cx="2606040" cy="17373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2798064"/>
            <a:ext cx="5029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293B"/>
                </a:solidFill>
                <a:latin typeface="Arial"/>
              </a:rPr>
              <a:t>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40964"/>
            <a:ext cx="17830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Arial"/>
              </a:rPr>
              <a:t>minhchautestthat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4600" y="3177540"/>
            <a:ext cx="2606040" cy="173736"/>
          </a:xfrm>
          <a:prstGeom prst="roundRect">
            <a:avLst>
              <a:gd name="adj" fmla="val 50000"/>
            </a:avLst>
          </a:prstGeom>
          <a:solidFill>
            <a:srgbClr val="E6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514600" y="3177540"/>
            <a:ext cx="2048347" cy="17373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3140964"/>
            <a:ext cx="5029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293B"/>
                </a:solidFill>
                <a:latin typeface="Arial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483864"/>
            <a:ext cx="17830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Arial"/>
              </a:rPr>
              <a:t>mivietnam_chuyengiarobot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14600" y="3520440"/>
            <a:ext cx="2606040" cy="173736"/>
          </a:xfrm>
          <a:prstGeom prst="roundRect">
            <a:avLst>
              <a:gd name="adj" fmla="val 50000"/>
            </a:avLst>
          </a:prstGeom>
          <a:solidFill>
            <a:srgbClr val="E6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14600" y="3520440"/>
            <a:ext cx="1675683" cy="17373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483864"/>
            <a:ext cx="5029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293B"/>
                </a:solidFill>
                <a:latin typeface="Arial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826764"/>
            <a:ext cx="17830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Arial"/>
              </a:rPr>
              <a:t>thurobot88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14600" y="3863339"/>
            <a:ext cx="2606040" cy="173736"/>
          </a:xfrm>
          <a:prstGeom prst="roundRect">
            <a:avLst>
              <a:gd name="adj" fmla="val 50000"/>
            </a:avLst>
          </a:prstGeom>
          <a:solidFill>
            <a:srgbClr val="E6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14600" y="3863339"/>
            <a:ext cx="1675683" cy="17373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66360" y="3826764"/>
            <a:ext cx="5029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293B"/>
                </a:solidFill>
                <a:latin typeface="Arial"/>
              </a:rP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169664"/>
            <a:ext cx="17830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Arial"/>
              </a:rPr>
              <a:t>phanthulan715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14600" y="4206240"/>
            <a:ext cx="2606040" cy="173736"/>
          </a:xfrm>
          <a:prstGeom prst="roundRect">
            <a:avLst>
              <a:gd name="adj" fmla="val 50000"/>
            </a:avLst>
          </a:prstGeom>
          <a:solidFill>
            <a:srgbClr val="E6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514600" y="4206240"/>
            <a:ext cx="1303020" cy="17373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66360" y="4169664"/>
            <a:ext cx="5029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293B"/>
                </a:solidFill>
                <a:latin typeface="Arial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512564"/>
            <a:ext cx="17830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E293B"/>
                </a:solidFill>
                <a:latin typeface="Arial"/>
              </a:rPr>
              <a:t>.hng0863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14600" y="4549140"/>
            <a:ext cx="2606040" cy="173736"/>
          </a:xfrm>
          <a:prstGeom prst="roundRect">
            <a:avLst>
              <a:gd name="adj" fmla="val 50000"/>
            </a:avLst>
          </a:prstGeom>
          <a:solidFill>
            <a:srgbClr val="E6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514600" y="4549140"/>
            <a:ext cx="1117991" cy="17373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66360" y="4512564"/>
            <a:ext cx="5029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293B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828031"/>
            <a:ext cx="5029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64748B"/>
                </a:solidFill>
                <a:latin typeface="Arial"/>
              </a:rPr>
              <a:t>👀 Top view:  </a:t>
            </a:r>
            <a:r>
              <a:rPr sz="950" b="1">
                <a:solidFill>
                  <a:srgbClr val="1F9D5F"/>
                </a:solidFill>
                <a:latin typeface="Arial"/>
              </a:rPr>
              <a:t>mivietnam 5.953 · minhchau 2.666 · kimanh 1.930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89904" y="2212848"/>
            <a:ext cx="5641848" cy="3017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089904" y="2212848"/>
            <a:ext cx="5641848" cy="420624"/>
          </a:xfrm>
          <a:prstGeom prst="roundRect">
            <a:avLst>
              <a:gd name="adj" fmla="val 4500"/>
            </a:avLst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18504" y="2212848"/>
            <a:ext cx="52760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📊  Bức tranh tương tác 4 tuần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91072" y="2779776"/>
            <a:ext cx="1648967" cy="1060704"/>
          </a:xfrm>
          <a:prstGeom prst="roundRect">
            <a:avLst>
              <a:gd name="adj" fmla="val 9000"/>
            </a:avLst>
          </a:prstGeom>
          <a:solidFill>
            <a:srgbClr val="E9F0FE"/>
          </a:solidFill>
          <a:ln w="12700">
            <a:solidFill>
              <a:srgbClr val="CADC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37376" y="2898648"/>
            <a:ext cx="137464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64748B"/>
                </a:solidFill>
                <a:latin typeface="Arial"/>
              </a:rPr>
              <a:t>ĐẠI LÝ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37376" y="3145536"/>
            <a:ext cx="137464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2F6FED"/>
                </a:solidFill>
                <a:latin typeface="Arial"/>
              </a:rPr>
              <a:t>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37376" y="3529584"/>
            <a:ext cx="137464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69" b="0">
                <a:solidFill>
                  <a:srgbClr val="64748B"/>
                </a:solidFill>
                <a:latin typeface="Arial"/>
              </a:rPr>
              <a:t>kênh active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86344" y="2779776"/>
            <a:ext cx="1648967" cy="1060704"/>
          </a:xfrm>
          <a:prstGeom prst="roundRect">
            <a:avLst>
              <a:gd name="adj" fmla="val 9000"/>
            </a:avLst>
          </a:prstGeom>
          <a:solidFill>
            <a:srgbClr val="E7F6ED"/>
          </a:solidFill>
          <a:ln w="12700">
            <a:solidFill>
              <a:srgbClr val="C2E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32648" y="2898648"/>
            <a:ext cx="137464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64748B"/>
                </a:solidFill>
                <a:latin typeface="Arial"/>
              </a:rPr>
              <a:t>VIDEO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32648" y="3145536"/>
            <a:ext cx="137464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F9D5F"/>
                </a:solidFill>
                <a:latin typeface="Arial"/>
              </a:rPr>
              <a:t>93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32648" y="3529584"/>
            <a:ext cx="137464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69" b="0">
                <a:solidFill>
                  <a:srgbClr val="64748B"/>
                </a:solidFill>
                <a:latin typeface="Arial"/>
              </a:rPr>
              <a:t>qrevo 2 pro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881615" y="2779776"/>
            <a:ext cx="1648967" cy="1060704"/>
          </a:xfrm>
          <a:prstGeom prst="roundRect">
            <a:avLst>
              <a:gd name="adj" fmla="val 9000"/>
            </a:avLst>
          </a:prstGeom>
          <a:solidFill>
            <a:srgbClr val="FDF3E0"/>
          </a:solidFill>
          <a:ln w="12700">
            <a:solidFill>
              <a:srgbClr val="F2D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27919" y="2898648"/>
            <a:ext cx="137464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64748B"/>
                </a:solidFill>
                <a:latin typeface="Arial"/>
              </a:rPr>
              <a:t>LƯỢT XEM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27919" y="3145536"/>
            <a:ext cx="137464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9871A"/>
                </a:solidFill>
                <a:latin typeface="Arial"/>
              </a:rPr>
              <a:t>17.499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27919" y="3529584"/>
            <a:ext cx="137464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69" b="0">
                <a:solidFill>
                  <a:srgbClr val="64748B"/>
                </a:solidFill>
                <a:latin typeface="Arial"/>
              </a:rPr>
              <a:t>~188/video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91072" y="3986783"/>
            <a:ext cx="1648967" cy="1060704"/>
          </a:xfrm>
          <a:prstGeom prst="roundRect">
            <a:avLst>
              <a:gd name="adj" fmla="val 9000"/>
            </a:avLst>
          </a:prstGeom>
          <a:solidFill>
            <a:srgbClr val="F1F4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37376" y="4105655"/>
            <a:ext cx="137464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64748B"/>
                </a:solidFill>
                <a:latin typeface="Arial"/>
              </a:rPr>
              <a:t>TYM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37376" y="4352544"/>
            <a:ext cx="137464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E293B"/>
                </a:solidFill>
                <a:latin typeface="Arial"/>
              </a:rPr>
              <a:t>468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37376" y="4736592"/>
            <a:ext cx="137464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69" b="0">
                <a:solidFill>
                  <a:srgbClr val="64748B"/>
                </a:solidFill>
                <a:latin typeface="Arial"/>
              </a:rPr>
              <a:t>lượt thích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86344" y="3986783"/>
            <a:ext cx="1648967" cy="1060704"/>
          </a:xfrm>
          <a:prstGeom prst="roundRect">
            <a:avLst>
              <a:gd name="adj" fmla="val 9000"/>
            </a:avLst>
          </a:prstGeom>
          <a:solidFill>
            <a:srgbClr val="F1F4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32648" y="4105655"/>
            <a:ext cx="137464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64748B"/>
                </a:solidFill>
                <a:latin typeface="Arial"/>
              </a:rPr>
              <a:t>BÌNH LUẬN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32648" y="4352544"/>
            <a:ext cx="137464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E293B"/>
                </a:solidFill>
                <a:latin typeface="Arial"/>
              </a:rPr>
              <a:t>124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32648" y="4736592"/>
            <a:ext cx="137464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69" b="0">
                <a:solidFill>
                  <a:srgbClr val="64748B"/>
                </a:solidFill>
                <a:latin typeface="Arial"/>
              </a:rPr>
              <a:t>comment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881615" y="3986783"/>
            <a:ext cx="1648967" cy="1060704"/>
          </a:xfrm>
          <a:prstGeom prst="roundRect">
            <a:avLst>
              <a:gd name="adj" fmla="val 9000"/>
            </a:avLst>
          </a:prstGeom>
          <a:solidFill>
            <a:srgbClr val="F1F4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27919" y="4105655"/>
            <a:ext cx="137464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64748B"/>
                </a:solidFill>
                <a:latin typeface="Arial"/>
              </a:rPr>
              <a:t>TƯƠNG TÁC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27919" y="4352544"/>
            <a:ext cx="137464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E293B"/>
                </a:solidFill>
                <a:latin typeface="Arial"/>
              </a:rPr>
              <a:t>3,38%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27919" y="4736592"/>
            <a:ext cx="137464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69" b="0">
                <a:solidFill>
                  <a:srgbClr val="64748B"/>
                </a:solidFill>
                <a:latin typeface="Arial"/>
              </a:rPr>
              <a:t>(tym+cmt)/view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5394960"/>
            <a:ext cx="5486400" cy="1170432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57200" y="5394960"/>
            <a:ext cx="64008" cy="117043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3232" y="5522976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F6FED"/>
                </a:solidFill>
                <a:latin typeface="Arial"/>
              </a:rPr>
              <a:t>Key takeaway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3232" y="5815584"/>
            <a:ext cx="5074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>
                <a:solidFill>
                  <a:srgbClr val="1E293B"/>
                </a:solidFill>
                <a:latin typeface="Arial"/>
              </a:rPr>
              <a:t>23 đại lý tạo 93 video/4 tuần, nhưng Top 3 chiếm 37% sản lượng và mivietnam giữ 34% view — độ phủ đang lệch về số ít.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089904" y="5394960"/>
            <a:ext cx="5641848" cy="1170432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89904" y="5394960"/>
            <a:ext cx="64008" cy="1170432"/>
          </a:xfrm>
          <a:prstGeom prst="rect">
            <a:avLst/>
          </a:prstGeom>
          <a:solidFill>
            <a:srgbClr val="1F9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45936" y="5522976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9D5F"/>
                </a:solidFill>
                <a:latin typeface="Arial"/>
              </a:rPr>
              <a:t>Next move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45936" y="5815584"/>
            <a:ext cx="5212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0">
                <a:solidFill>
                  <a:srgbClr val="1E293B"/>
                </a:solidFill>
                <a:latin typeface="Arial"/>
              </a:rPr>
              <a:t>Bóc format mivietnam thành brief mẫu; đặt KPI tối thiểu 4 video/tháng + thưởng theo view để kích hoạt nhóm im lặng; thêm CTA chốt sale vào caption.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